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114800" cy="6126480"/>
          </a:xfrm>
          <a:prstGeom prst="rect">
            <a:avLst/>
          </a:prstGeom>
          <a:solidFill>
            <a:srgbClr val="163A5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645920"/>
            <a:ext cx="1828800" cy="54864"/>
          </a:xfrm>
          <a:prstGeom prst="rect">
            <a:avLst/>
          </a:prstGeom>
          <a:solidFill>
            <a:srgbClr val="62B6C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2B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AI-Based Cell Type Classification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62B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DAPI Nuclear Staining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Predicting Melanoma Microenvironment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Morphology Alone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3716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037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 Transcriptomics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517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03720" y="2651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Melanoma Phenotyping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4008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Meeting  |  UKE Hamburg  |  Sonora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61872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188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47472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 staining &amp; spatial transcriptomics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solidFill>
            <a:srgbClr val="E8EDF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01952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474720" y="1828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 typing in melanoma microenvironment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42032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468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 Approach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474720" y="2468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morphology from transcriptomics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solidFill>
            <a:srgbClr val="E8EDF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82112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3474720" y="3108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data processing &amp; model training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22192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3749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Melanoma Application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3474720" y="3749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UKE dissertation project &amp; validation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E8EDF2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462272"/>
            <a:ext cx="347472" cy="34747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88720" y="4389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&amp; Outlook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3474720" y="43891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Benchmarks and next steps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  |  Lab Meeting</a:t>
            </a:r>
            <a:endParaRPr lang="en-US" sz="800" dirty="0"/>
          </a:p>
        </p:txBody>
      </p:sp>
      <p:sp>
        <p:nvSpPr>
          <p:cNvPr id="28" name="Text 2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20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371600" cy="45720"/>
          </a:xfrm>
          <a:prstGeom prst="rect">
            <a:avLst/>
          </a:prstGeom>
          <a:solidFill>
            <a:srgbClr val="62B6C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2B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 Staining &amp; Nuclear Morphology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  |  Lab Meeting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20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 Nuclear Staining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DAPI?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i="1" dirty="0">
                <a:solidFill>
                  <a:srgbClr val="D47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4',6-diamidino-2-phenylindole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fluorescent dye that binds strongly to adenine-thymine (A-T) rich regions of double-stranded DNA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91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Properties: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Excitation: ~360 nm (UV)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Emission: ~460 nm (blue)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Binds minor groove of DNA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Cell-permeable (fixed &amp; live cells)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Universal nuclear counterstain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 for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20640" y="169164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91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Nuclear morphology encodes cell identity: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Nucleus size varies by cell type (e.g., immune cells are smaller)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Chromatin texture differs between cell states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 features (roundness, elongation) correlate with function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Perinuclear region shows cytoplasm differences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47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 is always available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a counterstain in every spatial transcriptomics experiment — no extra cost or effort required.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  |  Lab Meeting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 Transcriptomics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91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Measuring gene expression in situ while preserving spatial context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10x Xenium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situ hybridization with padlock probes. Subcellular resolution. 300-5000 gene panels.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 cell segmentation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 + boundary staining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341 genes (breast panel)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~170K cells per sample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3931920" cy="5486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Vizgen MERSCOPE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MERFISH-based imaging. Multiplexed error-robust FISH. 500+ gene panels.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74320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gene count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 counterstain included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 genes (breast panel)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~713K cells per sample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  |  Lab Meeting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20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Insight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E8ED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371600"/>
          </a:xfrm>
          <a:prstGeom prst="rect">
            <a:avLst/>
          </a:prstGeom>
          <a:solidFill>
            <a:srgbClr val="D4763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spatial transcriptomics experiment already contains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DAPI image with morphological cell type information.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2377440" cy="18288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926080"/>
            <a:ext cx="2377440" cy="45720"/>
          </a:xfrm>
          <a:prstGeom prst="rect">
            <a:avLst/>
          </a:prstGeom>
          <a:solidFill>
            <a:srgbClr val="0E7C8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1089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 Expression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6118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 transcriptomics provides cell-level gene expression used by CellTypist for annotation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3566160"/>
            <a:ext cx="320040" cy="320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83280" y="2926080"/>
            <a:ext cx="2377440" cy="18288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83280" y="2926080"/>
            <a:ext cx="2377440" cy="45720"/>
          </a:xfrm>
          <a:prstGeom prst="rect">
            <a:avLst/>
          </a:prstGeom>
          <a:solidFill>
            <a:srgbClr val="D4763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1089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023360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Labels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566160" y="36118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Annotations serve as free, large-scale training data for the image classifier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566160"/>
            <a:ext cx="320040" cy="32004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309360" y="2926080"/>
            <a:ext cx="2377440" cy="18288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09360" y="2926080"/>
            <a:ext cx="2377440" cy="45720"/>
          </a:xfrm>
          <a:prstGeom prst="rect">
            <a:avLst/>
          </a:prstGeom>
          <a:solidFill>
            <a:srgbClr val="0F7B4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10896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49440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 Prediction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6492240" y="36118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CNN learns to predict cell type from nuclear morphology in the DAPI image alone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  |  Lab Meeting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20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371600" cy="45720"/>
          </a:xfrm>
          <a:prstGeom prst="rect">
            <a:avLst/>
          </a:prstGeom>
          <a:solidFill>
            <a:srgbClr val="62B6C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2B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 Typing in the Melanoma Tumor Microenvironment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  |  Lab Meeting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20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Melanoma Tumor Microenvironment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91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Understanding the immune landscape is critical for treatment decisions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1371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256032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645920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CD8+ T Cells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Cytotoxic lymphocytes that directly kill tumor cells. Key predictors of immunotherapy response.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560320" cy="1371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2560320" cy="4572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11" name="Shape 9"/>
          <p:cNvSpPr/>
          <p:nvPr/>
        </p:nvSpPr>
        <p:spPr>
          <a:xfrm>
            <a:off x="3429000" y="1645920"/>
            <a:ext cx="164592" cy="164592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CD137+ T Cells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Activated/exhausted T cells (4-1BB). Indicate ongoing anti-tumor immune response.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560320" cy="1371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463040"/>
            <a:ext cx="2560320" cy="45720"/>
          </a:xfrm>
          <a:prstGeom prst="rect">
            <a:avLst/>
          </a:prstGeom>
          <a:solidFill>
            <a:srgbClr val="D4763C"/>
          </a:solidFill>
          <a:ln/>
        </p:spPr>
      </p:sp>
      <p:sp>
        <p:nvSpPr>
          <p:cNvPr id="16" name="Shape 14"/>
          <p:cNvSpPr/>
          <p:nvPr/>
        </p:nvSpPr>
        <p:spPr>
          <a:xfrm>
            <a:off x="6263640" y="1645920"/>
            <a:ext cx="164592" cy="164592"/>
          </a:xfrm>
          <a:prstGeom prst="ellipse">
            <a:avLst/>
          </a:prstGeom>
          <a:solidFill>
            <a:srgbClr val="D4763C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PD1+ Cells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Immune checkpoint marker. Targets for checkpoint inhibitor therapy (anti-PD1).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2560320" cy="1371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08960"/>
            <a:ext cx="2560320" cy="45720"/>
          </a:xfrm>
          <a:prstGeom prst="rect">
            <a:avLst/>
          </a:prstGeom>
          <a:solidFill>
            <a:srgbClr val="C94C4C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291840"/>
            <a:ext cx="164592" cy="164592"/>
          </a:xfrm>
          <a:prstGeom prst="ellipse">
            <a:avLst/>
          </a:prstGeom>
          <a:solidFill>
            <a:srgbClr val="C94C4C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Tumor Cells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Malignant melanocytes. Nuclear atypia and pleomorphism visible in DAPI.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108960"/>
            <a:ext cx="2560320" cy="1371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108960"/>
            <a:ext cx="256032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Shape 24"/>
          <p:cNvSpPr/>
          <p:nvPr/>
        </p:nvSpPr>
        <p:spPr>
          <a:xfrm>
            <a:off x="3429000" y="329184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370332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Stromal Cells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Fibroblasts, endothelial cells supporting tumor architecture.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108960"/>
            <a:ext cx="2560320" cy="1371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108960"/>
            <a:ext cx="2560320" cy="45720"/>
          </a:xfrm>
          <a:prstGeom prst="rect">
            <a:avLst/>
          </a:prstGeom>
          <a:solidFill>
            <a:srgbClr val="0F7B4F"/>
          </a:solidFill>
          <a:ln/>
        </p:spPr>
      </p:sp>
      <p:sp>
        <p:nvSpPr>
          <p:cNvPr id="31" name="Shape 29"/>
          <p:cNvSpPr/>
          <p:nvPr/>
        </p:nvSpPr>
        <p:spPr>
          <a:xfrm>
            <a:off x="6263640" y="3291840"/>
            <a:ext cx="164592" cy="164592"/>
          </a:xfrm>
          <a:prstGeom prst="ellipse">
            <a:avLst/>
          </a:prstGeom>
          <a:solidFill>
            <a:srgbClr val="0F7B4F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Macrophages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Tumor-associated macrophages. M1/M2 polarization affects prognosis.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  |  Lab Meeting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Challenges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731520"/>
          </a:xfrm>
          <a:prstGeom prst="rect">
            <a:avLst/>
          </a:prstGeom>
          <a:solidFill>
            <a:srgbClr val="C94C4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Immunohistochemistry is Limited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447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3-4 markers per slide. Serial sections required for multiplexed phenotyping, causing spatial misalignment.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011680"/>
            <a:ext cx="54864" cy="731520"/>
          </a:xfrm>
          <a:prstGeom prst="rect">
            <a:avLst/>
          </a:prstGeom>
          <a:solidFill>
            <a:srgbClr val="D4763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57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Annotation is Costly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3591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 pathologists needed. Hours per sample, high inter-observer variability. Not scalable to whole-slide analysis.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92608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 Transcriptomics is Expensive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2735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Instruments cost $400K+. Per-sample cost $1000+. Not practical for clinical routine.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840480"/>
            <a:ext cx="54864" cy="7315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86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 is Underutilized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1879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experiment has a DAPI channel. Rich morphological information is typically discarded after basic segmentation.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  |  Lab Meeting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371600" cy="45720"/>
          </a:xfrm>
          <a:prstGeom prst="rect">
            <a:avLst/>
          </a:prstGeom>
          <a:solidFill>
            <a:srgbClr val="62B6C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 Approach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2B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Cell Types from Nuclear Morphology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  |  Lab Meeting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20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DAPIDL: Concept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1920240" cy="29260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37160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spatial transcriptomics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(Xenium/MERSCOPE)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tissue section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2377440"/>
            <a:ext cx="228600" cy="228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514600" y="1188720"/>
            <a:ext cx="1920240" cy="29260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371600"/>
            <a:ext cx="548640" cy="548640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60604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Annotate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606040" y="2560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CellTypist + SingleR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ensemble automatically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labels all cells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377440"/>
            <a:ext cx="228600" cy="2286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54880" y="1188720"/>
            <a:ext cx="1920240" cy="29260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40680" y="1371600"/>
            <a:ext cx="548640" cy="548640"/>
          </a:xfrm>
          <a:prstGeom prst="ellipse">
            <a:avLst/>
          </a:prstGeom>
          <a:solidFill>
            <a:srgbClr val="D4763C"/>
          </a:solidFill>
          <a:ln/>
        </p:spPr>
      </p:sp>
      <p:sp>
        <p:nvSpPr>
          <p:cNvPr id="17" name="Text 13"/>
          <p:cNvSpPr/>
          <p:nvPr/>
        </p:nvSpPr>
        <p:spPr>
          <a:xfrm>
            <a:off x="54406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84632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846320" y="2560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128×128 DAPI patches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centered on each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 nucleus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377440"/>
            <a:ext cx="228600" cy="2286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995160" y="1188720"/>
            <a:ext cx="1920240" cy="29260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680960" y="1371600"/>
            <a:ext cx="548640" cy="548640"/>
          </a:xfrm>
          <a:prstGeom prst="ellipse">
            <a:avLst/>
          </a:prstGeom>
          <a:solidFill>
            <a:srgbClr val="0F7B4F"/>
          </a:solidFill>
          <a:ln/>
        </p:spPr>
      </p:sp>
      <p:sp>
        <p:nvSpPr>
          <p:cNvPr id="23" name="Text 18"/>
          <p:cNvSpPr/>
          <p:nvPr/>
        </p:nvSpPr>
        <p:spPr>
          <a:xfrm>
            <a:off x="76809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708660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7086600" y="25603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EfficientNetV2 learns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 type from DAPI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morphology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27" name="Text 22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7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A model that predicts cell types from DAPI alone — no transcriptomics needed at inference.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  |  Lab Meeting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20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371600" cy="45720"/>
          </a:xfrm>
          <a:prstGeom prst="rect">
            <a:avLst/>
          </a:prstGeom>
          <a:solidFill>
            <a:srgbClr val="62B6C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Pipeline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2B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Data Processing &amp; Model Training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  |  Lab Meeting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20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7772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7772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Xenium Output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 image (H×W)  •  cells.parquet  •  Expression matrix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931920" cy="7772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03120"/>
            <a:ext cx="54864" cy="77724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XeniumDataReader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DAPI (OME-TIFF)  •  Parse cell coordinates  •  Build expression AnnData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931920" cy="7772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108960"/>
            <a:ext cx="54864" cy="777240"/>
          </a:xfrm>
          <a:prstGeom prst="rect">
            <a:avLst/>
          </a:prstGeom>
          <a:solidFill>
            <a:srgbClr val="D4763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CellTypeAnnotator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PopV-style ensemble voting  •  5 CellTypist + 2 SingleR  •  Map to broad categories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3931920" cy="7772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97280"/>
            <a:ext cx="54864" cy="777240"/>
          </a:xfrm>
          <a:prstGeom prst="rect">
            <a:avLst/>
          </a:prstGeom>
          <a:solidFill>
            <a:srgbClr val="0F7B4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PatchExtractor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128×128 patches per cell  •  Adaptive normalization  •  Memory-efficient batching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103120"/>
            <a:ext cx="3931920" cy="7772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10312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LMDB Dataset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random access  •  Stratified train/val/test splits  •  Zarr + metadata storage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108960"/>
            <a:ext cx="3931920" cy="77724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108960"/>
            <a:ext cx="54864" cy="777240"/>
          </a:xfrm>
          <a:prstGeom prst="rect">
            <a:avLst/>
          </a:prstGeom>
          <a:solidFill>
            <a:srgbClr val="C94C4C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Loop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sampling for imbalance  •  W&amp;B experiment tracking  •  Early stopping + checkpointing</a:t>
            </a:r>
            <a:endParaRPr lang="en-US" sz="10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325880"/>
            <a:ext cx="274320" cy="274320"/>
          </a:xfrm>
          <a:prstGeom prst="rect">
            <a:avLst/>
          </a:prstGeom>
        </p:spPr>
      </p:pic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331720"/>
            <a:ext cx="274320" cy="274320"/>
          </a:xfrm>
          <a:prstGeom prst="rect">
            <a:avLst/>
          </a:prstGeom>
        </p:spPr>
      </p:pic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33756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  |  Lab Meeting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20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Ensemble Annotation Strategy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91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PopV-inspired unweighted majority voting across 7 methods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36192"/>
            <a:ext cx="256032" cy="25603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CellTypist (5 models)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6916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Cells_Adult_Breast, Immune_All_High/Low, Pan_Fetal_Human, Developing_Human_Brain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313432"/>
            <a:ext cx="256032" cy="256032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SingleR - HPCA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468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Primary Cell Atlas reference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090672"/>
            <a:ext cx="256032" cy="256032"/>
          </a:xfrm>
          <a:prstGeom prst="ellipse">
            <a:avLst/>
          </a:prstGeom>
          <a:solidFill>
            <a:srgbClr val="D4763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SingleR - Blueprint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461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Blueprint Epigenome reference — critical for stromal classification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3931920" cy="1005840"/>
          </a:xfrm>
          <a:prstGeom prst="rect">
            <a:avLst/>
          </a:prstGeom>
          <a:solidFill>
            <a:srgbClr val="E8ED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88.9%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0.844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2468880" y="4206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 F1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749040"/>
            <a:ext cx="3931920" cy="914400"/>
          </a:xfrm>
          <a:prstGeom prst="rect">
            <a:avLst/>
          </a:prstGeom>
          <a:solidFill>
            <a:srgbClr val="E8ED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749040"/>
            <a:ext cx="54864" cy="914400"/>
          </a:xfrm>
          <a:prstGeom prst="rect">
            <a:avLst/>
          </a:prstGeom>
          <a:solidFill>
            <a:srgbClr val="D4763C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7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4114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Unweighted voting always beats confidence-weighted. SingleR Blueprint is essential for stromal cells (+117% F1).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  |  Lab Meeting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20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1371600" cy="2286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188720"/>
            <a:ext cx="13716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128×128 px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 Patch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(1 channel)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103120"/>
            <a:ext cx="228600" cy="228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965960" y="1188720"/>
            <a:ext cx="1645920" cy="2286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965960" y="1188720"/>
            <a:ext cx="1645920" cy="45720"/>
          </a:xfrm>
          <a:prstGeom prst="rect">
            <a:avLst/>
          </a:prstGeom>
          <a:solidFill>
            <a:srgbClr val="14919B"/>
          </a:solidFill>
          <a:ln/>
        </p:spPr>
      </p:sp>
      <p:sp>
        <p:nvSpPr>
          <p:cNvPr id="10" name="Text 7"/>
          <p:cNvSpPr/>
          <p:nvPr/>
        </p:nvSpPr>
        <p:spPr>
          <a:xfrm>
            <a:off x="196596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057400" y="19202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1→3 channel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duplication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pretrained backbone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103120"/>
            <a:ext cx="228600" cy="228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931920" y="1188720"/>
            <a:ext cx="1828800" cy="2286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931920" y="1188720"/>
            <a:ext cx="1828800" cy="45720"/>
          </a:xfrm>
          <a:prstGeom prst="rect">
            <a:avLst/>
          </a:prstGeom>
          <a:solidFill>
            <a:srgbClr val="D4763C"/>
          </a:solidFill>
          <a:ln/>
        </p:spPr>
      </p:sp>
      <p:sp>
        <p:nvSpPr>
          <p:cNvPr id="15" name="Text 11"/>
          <p:cNvSpPr/>
          <p:nvPr/>
        </p:nvSpPr>
        <p:spPr>
          <a:xfrm>
            <a:off x="393192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Backbone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023360" y="19202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EfficientNetV2-S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(ImageNet pretrained)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1792 features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103120"/>
            <a:ext cx="228600" cy="2286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080760" y="1188720"/>
            <a:ext cx="1645920" cy="2286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080760" y="1188720"/>
            <a:ext cx="1645920" cy="45720"/>
          </a:xfrm>
          <a:prstGeom prst="rect">
            <a:avLst/>
          </a:prstGeom>
          <a:solidFill>
            <a:srgbClr val="0F7B4F"/>
          </a:solidFill>
          <a:ln/>
        </p:spPr>
      </p:sp>
      <p:sp>
        <p:nvSpPr>
          <p:cNvPr id="20" name="Text 15"/>
          <p:cNvSpPr/>
          <p:nvPr/>
        </p:nvSpPr>
        <p:spPr>
          <a:xfrm>
            <a:off x="608076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172200" y="19202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Dropout(0.3)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Linear(1792 → N)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num classes</a:t>
            </a:r>
            <a:endParaRPr lang="en-US" sz="11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2103120"/>
            <a:ext cx="228600" cy="2286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046720" y="1188720"/>
            <a:ext cx="1188720" cy="2286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046720" y="1188720"/>
            <a:ext cx="1188720" cy="45720"/>
          </a:xfrm>
          <a:prstGeom prst="rect">
            <a:avLst/>
          </a:prstGeom>
          <a:solidFill>
            <a:srgbClr val="C94C4C"/>
          </a:solidFill>
          <a:ln/>
        </p:spPr>
      </p:sp>
      <p:sp>
        <p:nvSpPr>
          <p:cNvPr id="25" name="Text 19"/>
          <p:cNvSpPr/>
          <p:nvPr/>
        </p:nvSpPr>
        <p:spPr>
          <a:xfrm>
            <a:off x="8046720" y="1371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8138160" y="1920240"/>
            <a:ext cx="1005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 type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probabilities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28" name="Text 22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CrossEntropy + WeightedRandomSampler  |  </a:t>
            </a:r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Augmentations: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Gaussian noise, flips, rotation  |  </a:t>
            </a:r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Tracking: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W&amp;B + ClearML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7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Imbalance: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~87% Epithelial, 13% Immune, 0.2% Stromal  |  </a:t>
            </a:r>
            <a:pPr indent="0" marL="0">
              <a:buNone/>
            </a:pPr>
            <a:r>
              <a:rPr lang="en-US" sz="1100" b="1" dirty="0">
                <a:solidFill>
                  <a:srgbClr val="D47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weight ratio cap (10×) prevents mode collapse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  |  Lab Meeting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20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49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371600" cy="45720"/>
          </a:xfrm>
          <a:prstGeom prst="rect">
            <a:avLst/>
          </a:prstGeom>
          <a:solidFill>
            <a:srgbClr val="62B6C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Melanoma Application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2B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UKE Dissertation Project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  |  Lab Meeting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20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Phenotyping of Melanoma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91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UKE Hamburg Dissertation  |  Klinik für Dermatologie  |  Prof. Schneider &amp; Prof. Werner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7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deep learning classify melanoma microenvironment cell types from DAPI staining alone?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AI-based phenotyping compare to gold-standard immunohistochemistry (CD8, CD137, PD1)?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 two-stage approach (transcriptomics → DAPI) generalize across tissue types and platforms?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standardized workflows enable clinical adoption of AI-based nuclear phenotyping?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Strategy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2039112"/>
            <a:ext cx="274320" cy="2743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CD8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440680" y="1965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Cytotoxic T cells — compare DAPIDL CD8+ prediction vs IHC staining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2633472"/>
            <a:ext cx="274320" cy="274320"/>
          </a:xfrm>
          <a:prstGeom prst="ellipse">
            <a:avLst/>
          </a:prstGeom>
          <a:solidFill>
            <a:srgbClr val="14919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137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440680" y="2560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CD137+ activated T cells (4-1BB) — validate immune activation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3227832"/>
            <a:ext cx="274320" cy="274320"/>
          </a:xfrm>
          <a:prstGeom prst="ellipse">
            <a:avLst/>
          </a:prstGeom>
          <a:solidFill>
            <a:srgbClr val="D4763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PD1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440680" y="3154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marker — evaluate therapy-relevant cell identification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3822192"/>
            <a:ext cx="274320" cy="274320"/>
          </a:xfrm>
          <a:prstGeom prst="ellipse">
            <a:avLst/>
          </a:prstGeom>
          <a:solidFill>
            <a:srgbClr val="0F7B4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40680" y="3749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Nuclear segmentation — manual gold standard vs automated approaches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  |  Lab Meeting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20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91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Xenium Breast Cancer  |  Coarse Classification (3 classes)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56032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164592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</a:rPr>
                        <a:t>Experiment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</a:rPr>
                        <a:t>Classes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</a:rPr>
                        <a:t>Best Val F1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</a:rPr>
                        <a:t>Backbone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763C"/>
                          </a:solidFill>
                        </a:rPr>
                        <a:t>consensus_v2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763C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763C"/>
                          </a:solidFill>
                        </a:rPr>
                        <a:t>~0.70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4763C"/>
                          </a:solidFill>
                        </a:rPr>
                        <a:t>EfficientNetV2-S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groundtruth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~0.68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EfficientNetV2-S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groundtruth_convnext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~0.65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ConvNeXt-Tiny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groundtruth_resnet50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~0.62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ResNet50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finegrained_immune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~15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~0.55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EfficientNetV2-S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groundtruth_finegrained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~20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~0.45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EfficientNetV2-S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E8ED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4023360"/>
            <a:ext cx="54864" cy="640080"/>
          </a:xfrm>
          <a:prstGeom prst="rect">
            <a:avLst/>
          </a:prstGeom>
          <a:solidFill>
            <a:srgbClr val="D4763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023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Finding: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EfficientNetV2-S with ensemble consensus labels achieves best F1 (0.70). Class weight capping (max 10×) is critical — improved MERSCOPE F1 by 180× over uncapped baseline.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  |  Lab Meeting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20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Cross-Platform Compatibility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91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Xenium ↔ MERSCOPE: Same DAPI, Different Transcriptomics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8288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 Panel Overlap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7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8288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genes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 of 341 (Xenium)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500 (MERSCOPE)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94C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~28% overlap — but this doesn't matter!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18288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Transfer Works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 uses DAPI images only at inference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DAPI staining chemistry on both platforms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normalization handles intensity differences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Transcripts only used for training labels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Marker Gene Coverage for CellTypist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490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457200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7C86"/>
                          </a:solidFill>
                        </a:rPr>
                        <a:t>Cell Type</a:t>
                      </a:r>
                      <a:endParaRPr lang="en-US" sz="10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7C86"/>
                          </a:solidFill>
                        </a:rPr>
                        <a:t>Coverage</a:t>
                      </a:r>
                      <a:endParaRPr lang="en-US" sz="10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7C86"/>
                          </a:solidFill>
                        </a:rPr>
                        <a:t>Key Markers</a:t>
                      </a:r>
                      <a:endParaRPr lang="en-US" sz="10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Immune</a:t>
                      </a:r>
                      <a:endParaRPr lang="en-US" sz="10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B4F"/>
                          </a:solidFill>
                        </a:rPr>
                        <a:t>93% (14/15)</a:t>
                      </a:r>
                      <a:endParaRPr lang="en-US" sz="10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CD3D/E, CD4, CD8A/B, CD14, CD68</a:t>
                      </a:r>
                      <a:endParaRPr lang="en-US" sz="10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Endothelial</a:t>
                      </a:r>
                      <a:endParaRPr lang="en-US" sz="10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919B"/>
                          </a:solidFill>
                        </a:rPr>
                        <a:t>67% (4/6)</a:t>
                      </a:r>
                      <a:endParaRPr lang="en-US" sz="10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PECAM1, VWF, CLDN5, KDR</a:t>
                      </a:r>
                      <a:endParaRPr lang="en-US" sz="10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Epithelial</a:t>
                      </a:r>
                      <a:endParaRPr lang="en-US" sz="10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4763C"/>
                          </a:solidFill>
                        </a:rPr>
                        <a:t>22% (2/9)</a:t>
                      </a:r>
                      <a:endParaRPr lang="en-US" sz="10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EPCAM, CDH1 (key markers present)</a:t>
                      </a:r>
                      <a:endParaRPr lang="en-US" sz="10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  |  Lab Meeting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/ 20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1B496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 &amp; Outlook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0972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2B6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breast cancer proof-of-concept to melanoma clinical validation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103120"/>
            <a:ext cx="3931920" cy="1097280"/>
          </a:xfrm>
          <a:prstGeom prst="rect">
            <a:avLst/>
          </a:prstGeom>
          <a:solidFill>
            <a:srgbClr val="E8ED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2103120"/>
            <a:ext cx="54864" cy="10972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2240280"/>
            <a:ext cx="320040" cy="3200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Melanoma Dataset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2606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spatial transcriptomics data on melanoma tissue sections with matched IHC (CD8, CD137, PD1, DAPI)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2103120"/>
            <a:ext cx="3931920" cy="1097280"/>
          </a:xfrm>
          <a:prstGeom prst="rect">
            <a:avLst/>
          </a:prstGeom>
          <a:solidFill>
            <a:srgbClr val="E8ED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2103120"/>
            <a:ext cx="54864" cy="1097280"/>
          </a:xfrm>
          <a:prstGeom prst="rect">
            <a:avLst/>
          </a:prstGeom>
          <a:solidFill>
            <a:srgbClr val="D4763C"/>
          </a:solidFill>
          <a:ln/>
        </p:spPr>
      </p:sp>
      <p:sp>
        <p:nvSpPr>
          <p:cNvPr id="14" name="Shape 11"/>
          <p:cNvSpPr/>
          <p:nvPr/>
        </p:nvSpPr>
        <p:spPr>
          <a:xfrm>
            <a:off x="4937760" y="2240280"/>
            <a:ext cx="320040" cy="320040"/>
          </a:xfrm>
          <a:prstGeom prst="ellipse">
            <a:avLst/>
          </a:prstGeom>
          <a:solidFill>
            <a:srgbClr val="D4763C"/>
          </a:solidFill>
          <a:ln/>
        </p:spPr>
      </p:sp>
      <p:sp>
        <p:nvSpPr>
          <p:cNvPr id="15" name="Text 12"/>
          <p:cNvSpPr/>
          <p:nvPr/>
        </p:nvSpPr>
        <p:spPr>
          <a:xfrm>
            <a:off x="493776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39496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Standard Creation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37760" y="2606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segmentation and annotation by expert dermatopathologists for validation dataset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474720"/>
            <a:ext cx="3931920" cy="1097280"/>
          </a:xfrm>
          <a:prstGeom prst="rect">
            <a:avLst/>
          </a:prstGeom>
          <a:solidFill>
            <a:srgbClr val="E8ED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474720"/>
            <a:ext cx="54864" cy="1097280"/>
          </a:xfrm>
          <a:prstGeom prst="rect">
            <a:avLst/>
          </a:prstGeom>
          <a:solidFill>
            <a:srgbClr val="0F7B4F"/>
          </a:solidFill>
          <a:ln/>
        </p:spPr>
      </p:sp>
      <p:sp>
        <p:nvSpPr>
          <p:cNvPr id="20" name="Shape 17"/>
          <p:cNvSpPr/>
          <p:nvPr/>
        </p:nvSpPr>
        <p:spPr>
          <a:xfrm>
            <a:off x="640080" y="3611880"/>
            <a:ext cx="320040" cy="320040"/>
          </a:xfrm>
          <a:prstGeom prst="ellipse">
            <a:avLst/>
          </a:prstGeom>
          <a:solidFill>
            <a:srgbClr val="0F7B4F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3566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Transfer &amp; Tuning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40080" y="3977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DAPIDL pipeline to melanoma. Fine-tune models for melanoma-specific cell types and microenvironment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54880" y="3474720"/>
            <a:ext cx="3931920" cy="1097280"/>
          </a:xfrm>
          <a:prstGeom prst="rect">
            <a:avLst/>
          </a:prstGeom>
          <a:solidFill>
            <a:srgbClr val="E8ED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3474720"/>
            <a:ext cx="54864" cy="1097280"/>
          </a:xfrm>
          <a:prstGeom prst="rect">
            <a:avLst/>
          </a:prstGeom>
          <a:solidFill>
            <a:srgbClr val="C94C4C"/>
          </a:solidFill>
          <a:ln/>
        </p:spPr>
      </p:sp>
      <p:sp>
        <p:nvSpPr>
          <p:cNvPr id="26" name="Shape 23"/>
          <p:cNvSpPr/>
          <p:nvPr/>
        </p:nvSpPr>
        <p:spPr>
          <a:xfrm>
            <a:off x="4937760" y="3611880"/>
            <a:ext cx="320040" cy="320040"/>
          </a:xfrm>
          <a:prstGeom prst="ellipse">
            <a:avLst/>
          </a:prstGeom>
          <a:solidFill>
            <a:srgbClr val="C94C4C"/>
          </a:solidFill>
          <a:ln/>
        </p:spPr>
      </p:sp>
      <p:sp>
        <p:nvSpPr>
          <p:cNvPr id="27" name="Text 24"/>
          <p:cNvSpPr/>
          <p:nvPr/>
        </p:nvSpPr>
        <p:spPr>
          <a:xfrm>
            <a:off x="493776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394960" y="3566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Validation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937760" y="3977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comparison of AI phenotyping vs IHC gold standard. Evaluate clinical utility for immunotherapy decisions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DAPIDL  |  Lab Meeting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/ 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DAPIDL - AI-Based Cell Type Classification from DAPI Nuclear Staining</dc:title>
  <dc:subject>PptxGenJS Presentation</dc:subject>
  <dc:creator>Christian Marzahl</dc:creator>
  <cp:lastModifiedBy>Christian Marzahl</cp:lastModifiedBy>
  <cp:revision>1</cp:revision>
  <dcterms:created xsi:type="dcterms:W3CDTF">2026-02-13T09:07:04Z</dcterms:created>
  <dcterms:modified xsi:type="dcterms:W3CDTF">2026-02-13T09:07:04Z</dcterms:modified>
</cp:coreProperties>
</file>