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793" y="1458962"/>
            <a:ext cx="231441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DAPIDL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21074" y="2366963"/>
            <a:ext cx="51018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Cell Types from DAPI Nuclear Staining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28857" y="2735163"/>
            <a:ext cx="48861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Deep Learning &amp; Spatial Transcriptomics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27366" y="3433614"/>
            <a:ext cx="8891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73076"/>
            <a:ext cx="8128099" cy="8251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1273076"/>
            <a:ext cx="0" cy="8251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975" y="1552277"/>
            <a:ext cx="79311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cell type annotation using Deep Learning on DAPI-stained tissue sections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301329"/>
            <a:ext cx="8128099" cy="147280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CNN to predict cell types from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morphology alone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spatial transcriptomics (Xenium, MERSCOPE) as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training data generator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the need for expensive gene expression assays at inference time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retrospective analysis of existing DAPI-stained tissue archives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Gold Standard vs. DAPIDL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9850" y="1222325"/>
            <a:ext cx="3886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Pathology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9238" y="1749326"/>
            <a:ext cx="1987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73281" y="2171551"/>
            <a:ext cx="18791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(hours per slide)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9729" y="2593777"/>
            <a:ext cx="2106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 per annotation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0418" y="3016002"/>
            <a:ext cx="15449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Expert-dependent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87799" y="1222325"/>
            <a:ext cx="38863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DAPIDL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7412" y="1749326"/>
            <a:ext cx="23869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 &amp; objective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72406" y="2171551"/>
            <a:ext cx="1916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(&lt;1s / 1000 cells)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7892" y="2593777"/>
            <a:ext cx="15660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marginal cost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83145" y="3016002"/>
            <a:ext cx="20955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&amp; scalable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Transcriptomics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21077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that measure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expression at single-cell resolution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 preserving spatial context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Platforms: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Xenium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(10x Genomics),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MERSCOPE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(Vizgen), CosMx (NanoString)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per cell: transcript counts for 300-5000 genes + spatial coordinates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platforms include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 nuclear staining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morphology channel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understanding of intra-tumor heterogeneity and the tumor microenvironment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3533180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3533180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812381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DAPI staining is universal across all spatial transcriptomics platforms. A model that learns from one dataset can predict on any DAPI image.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Spatial Transcriptomics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18410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section placed on slides with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probe spots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 bind complementary mRNA molecules in situ (FISH-based)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Fluorescent readout identifies which transcripts are present in each cell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segmentation assigns transcripts to individual cells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expression matrix + spatial coordinates + DAPI image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3266480"/>
            <a:ext cx="8128099" cy="8251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3266480"/>
            <a:ext cx="0" cy="8251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545681"/>
            <a:ext cx="79311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for 300-5000 pre-selected genes (panel-based). Not whole-genome.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Training Data Quality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18410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the CNN is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straightforward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 labels exist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sufficient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training labels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real challenge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pathologist-annotated ground truth available for most datasets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annotation methods each have biases and error rates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noise directly degrades model convergence and accuracy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3266480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3266480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545681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Democratic consensus of 11 independent annotation algorithms. Only high-confidence cells enter the training set.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DAPIDL Pipeline</a:t>
            </a:r>
            <a:endParaRPr lang="en-US" sz="2800" dirty="0"/>
          </a:p>
        </p:txBody>
      </p:sp>
      <p:pic>
        <p:nvPicPr>
          <p:cNvPr id="3" name="Image 0" descr="/Users/chrism/git/dapidl/presentation/figures/pipe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917525"/>
            <a:ext cx="3174950" cy="3047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752" y="968276"/>
            <a:ext cx="4663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spatial transcriptomics data (Xenium, MERSCOPE, STHELAR)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63752" y="1415951"/>
            <a:ext cx="4663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Annotate: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 methods vote on each cell's type using gene expression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63752" y="1863626"/>
            <a:ext cx="4663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 labels to Cell Ontology for cross-dataset consistency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3752" y="2311301"/>
            <a:ext cx="4663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Filter: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low-confidence cells (marker enrichment + spatial coherence)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63752" y="2758976"/>
            <a:ext cx="4663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Extract: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Cut nucleus-centered DAPI patches, save as LMDB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63752" y="3035201"/>
            <a:ext cx="46637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Train: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CNN/ViT learns to predict cell type from DAPI morphology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3752" y="3482876"/>
            <a:ext cx="4663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Output: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Deployable model predicts on any DAPI image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63752" y="3809851"/>
            <a:ext cx="4663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modular, configurable, and orchestrated via ClearML pipelines.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Annotation via Algorithmic Consensus</a:t>
            </a:r>
            <a:endParaRPr lang="en-US" sz="2600" dirty="0"/>
          </a:p>
        </p:txBody>
      </p:sp>
      <p:pic>
        <p:nvPicPr>
          <p:cNvPr id="3" name="Image 0" descr="/Users/chrism/git/dapidl/presentation/figures/ensemble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043113"/>
            <a:ext cx="3174950" cy="1555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752" y="942826"/>
            <a:ext cx="4663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use: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063752" y="1206252"/>
            <a:ext cx="4572298" cy="6158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expression transcripts</a:t>
            </a:r>
            <a:endParaRPr lang="en-US" sz="12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marker databases (CellMarker 2.0, PanglaoDB)</a:t>
            </a:r>
            <a:endParaRPr lang="en-US" sz="12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atlases (Tabula Sapiens, Human Cell Atlas)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63752" y="1885504"/>
            <a:ext cx="46637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Democratized ground truth: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rely on majority vote of 11 distinct algorithms to generate training labels without manual annotation.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3752" y="2587079"/>
            <a:ext cx="4663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CellTypist, SingleR, ScType, SCINA, PopV, Azimuth, ScANVI, ScArches, Clustifyr, Garnett, ML classifiers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Voting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11080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55700"/>
            <a:ext cx="3873550" cy="16380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method independently labels every cell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majority vote determines final label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Unweighted voting outperforms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confidence-weighted by 15-22%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rate determines confidence tier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62500" y="11080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62500" y="1555700"/>
            <a:ext cx="3873550" cy="21714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methods use different algorithms and references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are uncorrelated across methods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eliminates individual method biases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Achieves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~88% accuracy, 0.84 macro F1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breast cancer (vs. ground truth)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via Confidence Tiers</a:t>
            </a:r>
            <a:endParaRPr lang="en-US" sz="2600" dirty="0"/>
          </a:p>
        </p:txBody>
      </p:sp>
      <p:pic>
        <p:nvPicPr>
          <p:cNvPr id="3" name="Image 0" descr="/Users/chrism/git/dapidl/presentation/figures/confidence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766590"/>
            <a:ext cx="3174950" cy="2070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0851" y="1765250"/>
            <a:ext cx="4534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Three-pass hierarchical filtering: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90851" y="2041475"/>
            <a:ext cx="4534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methods agree (100%). Highest training priority.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90851" y="2317700"/>
            <a:ext cx="45341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&gt;80% agreement. Good quality, included with lower weight.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90851" y="2793950"/>
            <a:ext cx="4534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&gt;50% agreement. Used cautiously for rare cell types.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90851" y="3070175"/>
            <a:ext cx="45341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Discarded: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&lt;50% agreement. Ambiguous cells excluded to prevent confusing the model.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90851" y="3571726"/>
            <a:ext cx="45341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quality signals: marker gene enrichment, spatial coherence (KNN), tissue-specific proportion plausibility.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Language: Cell Ontology (CL)</a:t>
            </a:r>
            <a:endParaRPr lang="en-US" sz="2400" dirty="0"/>
          </a:p>
        </p:txBody>
      </p:sp>
      <p:pic>
        <p:nvPicPr>
          <p:cNvPr id="3" name="Image 0" descr="/Users/chrism/git/dapidl/presentation/figures/hierarchy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860375"/>
            <a:ext cx="3429000" cy="74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7802" y="936575"/>
            <a:ext cx="44046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annotation method uses different names for the same cell type.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317802" y="1489025"/>
            <a:ext cx="4318248" cy="342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"T_CD8", "Cytotoxic T", "CD8+ T-Cell", "T-Lymphocyte (CD8)" all mean the same thing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7802" y="1984325"/>
            <a:ext cx="44046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 Mapper standardizes all labels to the Cell Ontology (OBO).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17802" y="2536775"/>
            <a:ext cx="4318248" cy="8126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Fuzzy match (&gt;0.85) → Alias lookup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Hierarchical: Broad (3) → Medium (~15) → Fine (~50 classes)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labels only when confidence is high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Backbones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147280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Single-nucleus DAPI image (128x128 px, 1 channel)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Adaptation: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Replicate to 3 channels for pretrained RGB networks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EfficientNetV2-S extracts a 1792-dim feature vector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heads: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heads for Broad (3), Medium (~15), Fine (~50) classes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2898279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2898279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177480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Networks pretrained on ImageNet already recognize edges, textures, and shapes. These low-level features transfer directly to nuclear morphology.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4256633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backbones: EfficientNetV2-S (default, 20M params), ResNet-18/34, ConvNeXt-Tiny/Small, ViT-Base/Large, Phikon-v2 (pathology), UNI (pathology). LoRA fine-tuning supported via PEFT.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 (EfficientNetV2-S)</a:t>
            </a:r>
            <a:endParaRPr lang="en-US" sz="2600" dirty="0"/>
          </a:p>
        </p:txBody>
      </p:sp>
      <p:pic>
        <p:nvPicPr>
          <p:cNvPr id="3" name="Image 0" descr="/Users/chrism/git/dapidl/presentation/figures/cn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50" y="1559272"/>
            <a:ext cx="8254901" cy="21105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4426000"/>
            <a:ext cx="85496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convolutional blocks progressively reduce spatial dimensions while increasing feature depth. Global average pooling produces a fixed-size feature vector for the classification heads.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(ViT) Architecture</a:t>
            </a:r>
            <a:endParaRPr lang="en-US" sz="2600" dirty="0"/>
          </a:p>
        </p:txBody>
      </p:sp>
      <p:pic>
        <p:nvPicPr>
          <p:cNvPr id="3" name="Image 0" descr="/Users/chrism/git/dapidl/presentation/figures/vi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50" y="1535906"/>
            <a:ext cx="8254901" cy="2157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4426000"/>
            <a:ext cx="85496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is split into fixed-size patches, linearly projected into embeddings, and processed by a stack of Transformer encoder blocks using multi-head self-attention. The [CLS] token aggregates global information for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Learning: Why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 (ImageNet)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93800"/>
            <a:ext cx="3873550" cy="12698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14M+ labeled images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universal visual features: edges, curves, gradients, textures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features are domain-agnostic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6250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(DAPI)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62500" y="1593800"/>
            <a:ext cx="3873550" cy="12698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edges and textures appear in nuclei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needs to learn domain-specific patterns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convergence, better generalization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3416796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3416796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975" y="3695998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can recognize edges of a wolf already knows how to recognize edges of a cell. We skip expensive base training and only fine-tune the classification head.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Learning: Coarse to Fine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Training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93800"/>
            <a:ext cx="3873550" cy="18032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(Broad):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Epithelial vs. Immune vs. Stromal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(Medium):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T-Cell, B-Cell, Macrophage, Luminal, Fibroblast...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(Fine):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CD4+ T, CD8+ T, M1 Macrophage...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3523952"/>
            <a:ext cx="39510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progressively activates finer classification heads while maintaining coarse accuracy.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Confidence-Based Fallback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62500" y="1593800"/>
            <a:ext cx="3873550" cy="16380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inference: try fine prediction first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confidence &lt; threshold, fall back to medium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still uncertain, report at broad level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cell gets a reliable label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Loop &amp; Validation Strategy</a:t>
            </a:r>
            <a:endParaRPr lang="en-US" sz="2600" dirty="0"/>
          </a:p>
        </p:txBody>
      </p:sp>
      <p:pic>
        <p:nvPicPr>
          <p:cNvPr id="3" name="Image 0" descr="/Users/chrism/git/dapidl/presentation/figures/trai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839367"/>
            <a:ext cx="3429000" cy="1924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7802" y="1287363"/>
            <a:ext cx="4404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Phase Transitions: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317802" y="1563588"/>
            <a:ext cx="44046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switching from broad to medium, the new classification head unfreezes. This causes a 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accuracy dip</a:t>
            </a:r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loss spike as the model adapts to finer categories.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317802" y="2439888"/>
            <a:ext cx="44046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dip recurs at the medium→fine transition. Each time, the model recovers and surpasses its prior level.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17802" y="2916138"/>
            <a:ext cx="4404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final plateau is lower: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17802" y="3192363"/>
            <a:ext cx="44046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cell subtypes (CD4+ vs CD8+) are harder to distinguish from DAPI morphology alone. The model converges at a lower ceiling — this is a biological, not a technical, limit.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17802" y="4068663"/>
            <a:ext cx="44046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(patience=15), AdamW, cosine annealing, MixUp (0.2), DALI GPU loading.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Size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Nucleus-Centered Patches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93800"/>
            <a:ext cx="3873550" cy="21714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32x32: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nucleus interior. Misses surrounding context.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64x64: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Nucleus + immediate neighborhood.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128x128: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balance of nucleus detail + local tissue context.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256x256: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Includes multiple neighbors.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 (+15% over 128)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6250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62500" y="1619101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patches = better performance.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2500" y="2063502"/>
            <a:ext cx="395102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tissue context (neighboring cells, tissue architecture) provides critical classification cues beyond nuclear morphology.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2500" y="3041303"/>
            <a:ext cx="39510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larger patches need more GPU memory and slower training.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2500" y="3752404"/>
            <a:ext cx="395102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Physical-space normalization ensures consistent scale across platforms (target: 0.2125 um/px).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Performance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904875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Classification (3 classes)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273076"/>
            <a:ext cx="4015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619101"/>
            <a:ext cx="40158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(Consensus Labels)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847701"/>
            <a:ext cx="4015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193727"/>
            <a:ext cx="40158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422327"/>
            <a:ext cx="4015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768352"/>
            <a:ext cx="40158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(Ground Truth Labels)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904875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(17 classes)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8950" y="1273076"/>
            <a:ext cx="4015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8950" y="1619101"/>
            <a:ext cx="40158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(best EfficientNetV2-S)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8950" y="1847701"/>
            <a:ext cx="4015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8950" y="2193727"/>
            <a:ext cx="40158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8950" y="2447627"/>
            <a:ext cx="40158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highlights:</a:t>
            </a:r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Epithelial Luminal 0.92, T-Cell 0.80, B-Cell 0.77. Stromal subtypes remain challenging (Fibroblast 0.36).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950" y="456887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Xenium breast cancer dataset, 167,780 cells. EfficientNetV2-S backbone, 128px patches, consensus annotation.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Compatibility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146125"/>
            <a:ext cx="39510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DAPIDL is Platform-Agnostic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889075"/>
            <a:ext cx="3873550" cy="18032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 staining chemistry is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Xenium, MERSCOPE, CosMx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expression only used for training labels (not at inference)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normalization handles intensity differences (~16x between platforms)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6250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Platforms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62500" y="1593800"/>
            <a:ext cx="3873550" cy="24381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Xenium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(10x Genomics): 341 genes, 0.2125 um/px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MERSCOPE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(Vizgen): 500 genes, 0.108 um/px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STHELAR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31 sections, 16 tissue types, co-registered DAPI+H&amp;E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DAPI image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inference (no transcriptomics needed)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 &amp; LoRA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108897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Pathology Foundation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36650"/>
            <a:ext cx="3873550" cy="15365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Phikon-v2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(Owkin): ViT-L/16, trained on 100M+ pathology patches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(Mahmood Lab): ViT-L/16, pan-cancer histopathology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3-channel input (H&amp;E staining)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3225552"/>
            <a:ext cx="39510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ImageNet-pretrained EfficientNetV2-S matches Phikon-v2 on DAPI (F1=0.41 vs 0.41). DAPI differs enough from H&amp;E that pathology pretraining provides no advantage.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108897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Fine-Tuning (PEFT)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62500" y="1536650"/>
            <a:ext cx="3873550" cy="19047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Adaptation: freeze backbone, train small adapter matrices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trainable parameters by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training, lower GPU memory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efficient adaptation to new tissue types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Without Ground Truth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12666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spatial transcriptomics datasets lack pathologist-annotated ground truth.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1711077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Validation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158752"/>
            <a:ext cx="3873550" cy="18032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Leiden clustering: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unsupervised clusters with supervised labels (ARI, NMI)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 morphology: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trained CNN as independent validation (agreement rate)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Multi-method consensus: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Agreement between annotation methods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2500" y="1711077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Gene Validation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62500" y="2158752"/>
            <a:ext cx="3873550" cy="24381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marker database (Cell Marker Accordion + CellMarker 2.0)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that predicted cell types express expected markers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coherence: cells of same type should cluster spatially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plausibility: tissue-specific expected ratios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popV: Popular Vote Annotation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21077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combining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cell-type transfer tools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consensus classification (Ergen et al., Nature Genetics 2024)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Tabula Sapiens as reference atlas with organ-specific subsets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voting reduces bias of individual tools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cell types with stated confidence per cell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labels that are highly likely to match reference atlas cell types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3533180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3533180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812381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popV achieves 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 F1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Xenium breast cancer when combined with our confidence filtering, matching the best single-method performance while being more robust.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CellTypist: Machine Learning Annotation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18410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regression-based classifier trained on the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Cell Atlas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zoo: 100+ pretrained models for different tissues and cell types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normalized gene expression vector per cell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cell type label + probability score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models for DAPIDL: Cells_Adult_Breast.pkl, Immune_All_High.pkl, Immune_All_Low.pkl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3266480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3266480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545681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strategy: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Running 3-5 CellTypist models in parallel and combining predictions achieves better coverage than any single model.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4624834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Dominguez Conde et al., Science 2022.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Parameters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593800"/>
            <a:ext cx="3873550" cy="21077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size: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32, 64, 128, 256 px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adaptive, percentile, minmax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tier: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 2, or 3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methods: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 subset of 11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Granularity: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broad / coarse / fine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Xenium native or Cellpose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62500" y="1146125"/>
            <a:ext cx="395102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3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Parameters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62500" y="1593800"/>
            <a:ext cx="3873550" cy="29078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EfficientNet, ResNet, ConvNeXt, ViT, Phikon-v2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1e-4 (cosine annealing)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64-256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MixUp, rotation, flip, noise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inverse frequency with cap (10x)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Optuna-based Bayesian optimization via ClearML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Clinical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222325"/>
            <a:ext cx="8128099" cy="220920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 staining is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performed routinely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most histology labs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types can be determined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after tissue collection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archived slides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expensive spatial transcriptomics equipment needed at inference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8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Platform-agnostic: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on Xenium, predict on any DAPI image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reproducible and scalable (no human subjectivity)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pipeline: easily add new tissues, methods, or backbones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3634680"/>
            <a:ext cx="8128099" cy="1091803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3634680"/>
            <a:ext cx="0" cy="1091803"/>
          </a:xfrm>
          <a:prstGeom prst="line">
            <a:avLst/>
          </a:prstGeom>
          <a:noFill/>
          <a:ln w="47625">
            <a:solidFill>
              <a:srgbClr val="0052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3913882"/>
            <a:ext cx="79311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universal DAPI classifier that works across tissue types, enabling rapid cell type mapping in any pathology lab with just standard nuclear staining.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0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8382000" cy="284410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Ergen et al. (2024) "Consensus prediction of cell type labels with popV"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Genetics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 et al. (2019) "SingleR: Reference-based single-cell annotation"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Immunology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Biancalani et al. (2021) "Tangram: Spatial alignment of single-cell transcriptomes"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Methods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Osumi-Sutherland et al. (2021) "Cell type ontologies of the Human Cell Atlas"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Cell Bio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 et al. (2026) "NuSPIRe: Self-supervised pretraining for nuclear morphology"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Biology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Diehl et al. (2016) "The Cell Ontology 2016: Enhanced content and interoperability"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Biomed Semantics</a:t>
            </a:r>
            <a:endParaRPr lang="en-US" sz="1400" dirty="0"/>
          </a:p>
          <a:p>
            <a:pPr algn="l"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et al. (2021) "Leveraging Cell Ontology to classify unseen cell types" </a:t>
            </a:r>
            <a:pPr algn="l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Comms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409813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bibliography in Zotero collection "dapiDL".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5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0453" y="997148"/>
            <a:ext cx="448294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Outlook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64050" y="2028825"/>
            <a:ext cx="1015901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6669" y="2397026"/>
            <a:ext cx="82906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B3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DAPIDL demonstrates that cell type prediction from DAPI nuclear staining alone is feasible, achieving 0.90 F1 at broad level and 0.41 F1 for 17 fine-grained classes.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6669" y="3025676"/>
            <a:ext cx="82906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B3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modular ClearML pipeline supports 3 platforms, 11 annotation methods, and multiple backbone architectures.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1822" y="3832027"/>
            <a:ext cx="70202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Scale to 16+ tissue types via STHELAR. Universal DAPI classifier.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DAPIDL - Predicting Cell Types from DAPI</dc:title>
  <dc:subject>PptxGenJS Presentation</dc:subject>
  <dc:creator>Chris M</dc:creator>
  <cp:lastModifiedBy>Chris M</cp:lastModifiedBy>
  <cp:revision>1</cp:revision>
  <dcterms:created xsi:type="dcterms:W3CDTF">2026-03-26T09:05:43Z</dcterms:created>
  <dcterms:modified xsi:type="dcterms:W3CDTF">2026-03-26T09:05:43Z</dcterms:modified>
</cp:coreProperties>
</file>