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41280" y="228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6E6E"/>
                </a:solidFill>
                <a:latin typeface="Calibri"/>
              </a:rPr>
              <a:t>v2 · 2026-05-02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64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0" b="1">
                <a:solidFill>
                  <a:srgbClr val="1A4B7A"/>
                </a:solidFill>
                <a:latin typeface="Calibri"/>
              </a:rPr>
              <a:t>DAPIDL</a:t>
            </a:r>
          </a:p>
          <a:p>
            <a:pPr algn="ctr"/>
            <a:r>
              <a:rPr sz="2800">
                <a:solidFill>
                  <a:srgbClr val="2B2B2B"/>
                </a:solidFill>
                <a:latin typeface="Calibri"/>
              </a:rPr>
              <a:t>Predicting cell types from DAPI nuclei</a:t>
            </a:r>
          </a:p>
          <a:p>
            <a:pPr algn="ctr"/>
            <a:r>
              <a:rPr sz="2000" i="1">
                <a:solidFill>
                  <a:srgbClr val="6E6E6E"/>
                </a:solidFill>
                <a:latin typeface="Calibri"/>
              </a:rPr>
              <a:t>Deep learning + spatial transcriptomics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E6E6E"/>
                </a:solidFill>
                <a:latin typeface="Calibri"/>
              </a:rPr>
              <a:t>Christian Muke   ·   v2 deck rebuilt around measurements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B8D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800" b="1">
                <a:solidFill>
                  <a:srgbClr val="10355A"/>
                </a:solidFill>
                <a:latin typeface="Calibri"/>
              </a:rPr>
              <a:t>Automatic cell-type annotation from DAPI-stained nuclei alone — trained on labels from spatial transcriptomics.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>
                <a:solidFill>
                  <a:srgbClr val="2B2B2B"/>
                </a:solidFill>
                <a:latin typeface="Calibri"/>
              </a:rPr>
              <a:t>•  Train a neural network to predict cell types from nuclear morphology</a:t>
            </a:r>
          </a:p>
          <a:p>
            <a:pPr>
              <a:lnSpc>
                <a:spcPct val="150000"/>
              </a:lnSpc>
            </a:pPr>
            <a:r>
              <a:rPr sz="1800">
                <a:solidFill>
                  <a:srgbClr val="2B2B2B"/>
                </a:solidFill>
                <a:latin typeface="Calibri"/>
              </a:rPr>
              <a:t>•  Use spatial transcriptomics (Xenium, MERSCOPE, STHELAR) to generate labels at scale</a:t>
            </a:r>
          </a:p>
          <a:p>
            <a:pPr>
              <a:lnSpc>
                <a:spcPct val="150000"/>
              </a:lnSpc>
            </a:pPr>
            <a:r>
              <a:rPr sz="1800">
                <a:solidFill>
                  <a:srgbClr val="2B2B2B"/>
                </a:solidFill>
                <a:latin typeface="Calibri"/>
              </a:rPr>
              <a:t>•  Deploy on any DAPI image — no expensive transcriptomics needed at analysis time</a:t>
            </a:r>
          </a:p>
          <a:p>
            <a:pPr>
              <a:lnSpc>
                <a:spcPct val="150000"/>
              </a:lnSpc>
            </a:pPr>
            <a:r>
              <a:rPr sz="1800">
                <a:solidFill>
                  <a:srgbClr val="2B2B2B"/>
                </a:solidFill>
                <a:latin typeface="Calibri"/>
              </a:rPr>
              <a:t>•  Enable retrospective analysis of archived histology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E6E6E"/>
                </a:solidFill>
                <a:latin typeface="Calibri"/>
              </a:rPr>
              <a:t>Vision: a universal DAPI classifier that works across tissues with one stain.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DAPIDL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From raw spatial transcriptomics → deployable DAPI model in 6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867" y="2377440"/>
            <a:ext cx="1508760" cy="868680"/>
          </a:xfrm>
          <a:prstGeom prst="roundRect">
            <a:avLst/>
          </a:prstGeom>
          <a:solidFill>
            <a:srgbClr val="14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INPUT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Xenium · MERSCOPE · STHELAR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3051" y="2647188"/>
            <a:ext cx="182880" cy="329184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41067" y="2377440"/>
            <a:ext cx="1508760" cy="868680"/>
          </a:xfrm>
          <a:prstGeom prst="roundRect">
            <a:avLst/>
          </a:prstGeom>
          <a:solidFill>
            <a:srgbClr val="E8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ANNOTATE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11 methods → consensus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13251" y="2647188"/>
            <a:ext cx="182880" cy="329184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1267" y="2377440"/>
            <a:ext cx="1508760" cy="868680"/>
          </a:xfrm>
          <a:prstGeom prst="roundRect">
            <a:avLst/>
          </a:prstGeom>
          <a:solidFill>
            <a:srgbClr val="D0C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STANDARDIZE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Cell Ontology mapping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13451" y="2647188"/>
            <a:ext cx="182880" cy="329184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41467" y="2377440"/>
            <a:ext cx="1508760" cy="868680"/>
          </a:xfrm>
          <a:prstGeom prst="roundRect">
            <a:avLst/>
          </a:prstGeom>
          <a:solidFill>
            <a:srgbClr val="6FC2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FILTER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Confidence tiers (T1/T2/T3)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13651" y="2647188"/>
            <a:ext cx="182880" cy="329184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1667" y="2377440"/>
            <a:ext cx="1508760" cy="868680"/>
          </a:xfrm>
          <a:prstGeom prst="roundRect">
            <a:avLst/>
          </a:prstGeom>
          <a:solidFill>
            <a:srgbClr val="6E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EXTRACT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DAPI patches → LMDB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413851" y="2647188"/>
            <a:ext cx="182880" cy="329184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41867" y="2377440"/>
            <a:ext cx="1508760" cy="868680"/>
          </a:xfrm>
          <a:prstGeom prst="roundRect">
            <a:avLst/>
          </a:prstGeom>
          <a:solidFill>
            <a:srgbClr val="A67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TRAIN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EfficientNetV2-S → 3 heads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014051" y="2647188"/>
            <a:ext cx="182880" cy="329184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42067" y="2377440"/>
            <a:ext cx="1508760" cy="868680"/>
          </a:xfrm>
          <a:prstGeom prst="roundRect">
            <a:avLst/>
          </a:prstGeom>
          <a:solidFill>
            <a:srgbClr val="144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DEPLOY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DAPI image in → cell types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2B2B2B"/>
                </a:solidFill>
                <a:latin typeface="Calibri"/>
              </a:rPr>
              <a:t>•  Steps 1–4 produce high-confidence training labels from gene expression.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B2B2B"/>
                </a:solidFill>
                <a:latin typeface="Calibri"/>
              </a:rPr>
              <a:t>•  Steps 5–7 turn those labels into a DAPI-only classifier.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B2B2B"/>
                </a:solidFill>
                <a:latin typeface="Calibri"/>
              </a:rPr>
              <a:t>•  Modular: swap any step (e.g. add new annotators, swap backbones, fuse modalities).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Three numbers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Everything else in the deck unpacks one of these.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867" y="2103120"/>
            <a:ext cx="361188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867" y="2103120"/>
            <a:ext cx="3611880" cy="146304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468879"/>
            <a:ext cx="3246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3D5A80"/>
                </a:solidFill>
                <a:latin typeface="Calibri"/>
              </a:rPr>
              <a:t>0.84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379476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355A"/>
                </a:solidFill>
                <a:latin typeface="Calibri"/>
              </a:rPr>
              <a:t>macro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87" y="4297679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2B2B2B"/>
                </a:solidFill>
                <a:latin typeface="Calibri"/>
              </a:rPr>
              <a:t>popV ensemble vs expert pathologist (Janesick et al.) on Xenium breast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9907" y="2103120"/>
            <a:ext cx="361188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5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9907" y="2103120"/>
            <a:ext cx="3611880" cy="146304"/>
          </a:xfrm>
          <a:prstGeom prst="rect">
            <a:avLst/>
          </a:prstGeom>
          <a:solidFill>
            <a:srgbClr val="ED5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2787" y="2468879"/>
            <a:ext cx="3246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ED553B"/>
                </a:solidFill>
                <a:latin typeface="Calibri"/>
              </a:rPr>
              <a:t>0.60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2787" y="379476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355A"/>
                </a:solidFill>
                <a:latin typeface="Calibri"/>
              </a:rPr>
              <a:t>DAPI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4297679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2B2B2B"/>
                </a:solidFill>
                <a:latin typeface="Calibri"/>
              </a:rPr>
              <a:t>test macro F1 from DAPI-only model at coarse 4-class breast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8947" y="2103120"/>
            <a:ext cx="361188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8947" y="2103120"/>
            <a:ext cx="3611880" cy="146304"/>
          </a:xfrm>
          <a:prstGeom prst="rect">
            <a:avLst/>
          </a:prstGeom>
          <a:solidFill>
            <a:srgbClr val="6F4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1827" y="2468879"/>
            <a:ext cx="3246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6F4C9C"/>
                </a:solidFill>
                <a:latin typeface="Calibri"/>
              </a:rPr>
              <a:t>+0.05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1827" y="3794760"/>
            <a:ext cx="3246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0355A"/>
                </a:solidFill>
                <a:latin typeface="Calibri"/>
              </a:rPr>
              <a:t>from H&amp;E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3267" y="4297679"/>
            <a:ext cx="3063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2B2B2B"/>
                </a:solidFill>
                <a:latin typeface="Calibri"/>
              </a:rPr>
              <a:t>F1 gain when DAPI is fused with H&amp;E via cross-attention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Which annotation method should you trust?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popV ensembles win on macro F1; BANKSY wins on accuracy. Choose by metric, not method.</a:t>
            </a:r>
          </a:p>
        </p:txBody>
      </p:sp>
      <p:pic>
        <p:nvPicPr>
          <p:cNvPr id="5" name="Picture 4" descr="fig00_annotation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65" y="1691640"/>
            <a:ext cx="9562563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E6E6E"/>
                </a:solidFill>
                <a:latin typeface="Calibri"/>
              </a:rPr>
              <a:t>STHELAR breast s0 (574,869 cells), Cell-Ontology 7-class label. Open circles = accuracy on same data — note the F1/acc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What can DAPI predict, at what granularity?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F1 drops from 0.70 (4-class) to 0.48 (9-class). Per-class panel: epithelial easy, endothelial hardest.</a:t>
            </a:r>
          </a:p>
        </p:txBody>
      </p:sp>
      <p:pic>
        <p:nvPicPr>
          <p:cNvPr id="5" name="Picture 4" descr="fig01_granu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249" y="1691640"/>
            <a:ext cx="9963195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E6E6E"/>
                </a:solidFill>
                <a:latin typeface="Calibri"/>
              </a:rPr>
              <a:t>All runs use EfficientNetV2-S, 128 px patches, identical hyperparameters.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Patch size — local context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Larger patches consistently raise F1 across both Xenium and STHELAR.</a:t>
            </a:r>
          </a:p>
        </p:txBody>
      </p:sp>
      <p:pic>
        <p:nvPicPr>
          <p:cNvPr id="5" name="Picture 4" descr="fig02_patch_siz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616" y="1691640"/>
            <a:ext cx="8128463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E6E6E"/>
                </a:solidFill>
                <a:latin typeface="Calibri"/>
              </a:rPr>
              <a:t>EffNetV2-S · Xenium 4-class · STHELAR 6-class · identical hyperparameters.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Cross-tissue generalisation — bounded by class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The brain paradox: when one class dominates, accuracy ≫ macro F1.</a:t>
            </a:r>
          </a:p>
        </p:txBody>
      </p:sp>
      <p:pic>
        <p:nvPicPr>
          <p:cNvPr id="5" name="Picture 4" descr="fig03_loto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75" y="1691640"/>
            <a:ext cx="10444744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E6E6E"/>
                </a:solidFill>
                <a:latin typeface="Calibri"/>
              </a:rPr>
              <a:t>Each row = one tissue held out from training; F1 computed on that tissue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DAPI · H&amp;E · multimodal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H&amp;E alone slightly beats DAPI; cross-attention fusion adds +5 pp F1 over DAPI.</a:t>
            </a:r>
          </a:p>
        </p:txBody>
      </p:sp>
      <p:pic>
        <p:nvPicPr>
          <p:cNvPr id="5" name="Picture 4" descr="fig04_mod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923" y="1691640"/>
            <a:ext cx="10221849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E6E6E"/>
                </a:solidFill>
                <a:latin typeface="Calibri"/>
              </a:rPr>
              <a:t>STHELAR same 9-class test split (n=189,668), EfficientNetV2-S, identical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Cross-platform: STHELAR ↔ Xenium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Domain shift costs 10–25 F1 points; STHELAR-trained models transfer better than Xenium-trained.</a:t>
            </a:r>
          </a:p>
        </p:txBody>
      </p:sp>
      <p:pic>
        <p:nvPicPr>
          <p:cNvPr id="5" name="Picture 4" descr="fig05_cross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3" y="1691640"/>
            <a:ext cx="9924747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E6E6E"/>
                </a:solidFill>
                <a:latin typeface="Calibri"/>
              </a:rPr>
              <a:t>Both panels are breast tissue. In-domain = held-out test of the SAME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How much training data do you need?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F1 climbs from 0.31 (5 %) to 0.42 (100 %); rare classes — endothelial, mast — benefit most.</a:t>
            </a:r>
          </a:p>
        </p:txBody>
      </p:sp>
      <p:pic>
        <p:nvPicPr>
          <p:cNvPr id="5" name="Picture 4" descr="fig06_data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48" y="1691640"/>
            <a:ext cx="8906798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E6E6E"/>
                </a:solidFill>
                <a:latin typeface="Calibri"/>
              </a:rPr>
              <a:t>STHELAR breast s0 · fixed val/test (n=71,228 each) · 5 fractions of the train pool · EfficientNetV2-S, identical hyperparameters.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Limitations &amp; honest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What this work does not (yet) deliver — listed up-front so reviewers don't have to dig.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377440" cy="594360"/>
          </a:xfrm>
          <a:prstGeom prst="roundRect">
            <a:avLst/>
          </a:prstGeom>
          <a:solidFill>
            <a:srgbClr val="10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DAPI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7451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B2B2B"/>
                </a:solidFill>
                <a:latin typeface="Calibri"/>
              </a:rPr>
              <a:t>Macro F1 plateaus around 0.55–0.65 for coarse classes. Nuclear morphology alone does not fully resolve cell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2377440" cy="594360"/>
          </a:xfrm>
          <a:prstGeom prst="roundRect">
            <a:avLst/>
          </a:prstGeom>
          <a:solidFill>
            <a:srgbClr val="10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Stromal &amp; rare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432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B2B2B"/>
                </a:solidFill>
                <a:latin typeface="Calibri"/>
              </a:rPr>
              <a:t>Endothelial F1 ≈ 0.45, Mast/Adipocyte F1 ≈ 0–0.20. Class imbalance and morphological similarity to neighbours are the bottleneck.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2377440" cy="594360"/>
          </a:xfrm>
          <a:prstGeom prst="roundRect">
            <a:avLst/>
          </a:prstGeom>
          <a:solidFill>
            <a:srgbClr val="10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Cross-platform domain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61187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B2B2B"/>
                </a:solidFill>
                <a:latin typeface="Calibri"/>
              </a:rPr>
              <a:t>Models trained on one platform lose ~10–25 F1 points on another. STHELAR → Xenium transfers better than Xenium → STHELAR.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2377440" cy="594360"/>
          </a:xfrm>
          <a:prstGeom prst="roundRect">
            <a:avLst/>
          </a:prstGeom>
          <a:solidFill>
            <a:srgbClr val="10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Training-label 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480559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B2B2B"/>
                </a:solidFill>
                <a:latin typeface="Calibri"/>
              </a:rPr>
              <a:t>Spatial-transcriptomics-derived labels have ~10–15 % error rate (see Fig 4 vs Janesick GT). The model inherits this floor.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03520"/>
            <a:ext cx="2377440" cy="594360"/>
          </a:xfrm>
          <a:prstGeom prst="roundRect">
            <a:avLst/>
          </a:prstGeom>
          <a:solidFill>
            <a:srgbClr val="10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Single tissue dominance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3492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B2B2B"/>
                </a:solidFill>
                <a:latin typeface="Calibri"/>
              </a:rPr>
              <a:t>The cleanest results are on breast. Brain LOTO drops to F1 ≈ 0.10 because its class composition (93 % endothelial) differs sharply.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91440" cy="777240"/>
          </a:xfrm>
          <a:prstGeom prst="rect">
            <a:avLst/>
          </a:prstGeom>
          <a:solidFill>
            <a:srgbClr val="1A4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1A4B7A"/>
                </a:solidFill>
                <a:latin typeface="Calibri"/>
              </a:rPr>
              <a:t>Impact &amp;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E6E6E"/>
                </a:solidFill>
                <a:latin typeface="Calibri"/>
              </a:rPr>
              <a:t>If we accept the F1 ceiling, what does this enable?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700">
                <a:solidFill>
                  <a:srgbClr val="2B2B2B"/>
                </a:solidFill>
                <a:latin typeface="Calibri"/>
              </a:rPr>
              <a:t>•  DAPI staining is already routine in most pathology / histology labs</a:t>
            </a:r>
          </a:p>
          <a:p>
            <a:pPr>
              <a:lnSpc>
                <a:spcPct val="150000"/>
              </a:lnSpc>
            </a:pPr>
            <a:r>
              <a:rPr sz="1700">
                <a:solidFill>
                  <a:srgbClr val="2B2B2B"/>
                </a:solidFill>
                <a:latin typeface="Calibri"/>
              </a:rPr>
              <a:t>•  Cell types can be inferred years after tissue collection — retrospective analysis</a:t>
            </a:r>
          </a:p>
          <a:p>
            <a:pPr>
              <a:lnSpc>
                <a:spcPct val="150000"/>
              </a:lnSpc>
            </a:pPr>
            <a:r>
              <a:rPr sz="1700">
                <a:solidFill>
                  <a:srgbClr val="2B2B2B"/>
                </a:solidFill>
                <a:latin typeface="Calibri"/>
              </a:rPr>
              <a:t>•  No expensive spatial transcriptomics needed at inference time</a:t>
            </a:r>
          </a:p>
          <a:p>
            <a:pPr>
              <a:lnSpc>
                <a:spcPct val="150000"/>
              </a:lnSpc>
            </a:pPr>
            <a:r>
              <a:rPr sz="1700">
                <a:solidFill>
                  <a:srgbClr val="2B2B2B"/>
                </a:solidFill>
                <a:latin typeface="Calibri"/>
              </a:rPr>
              <a:t>•  Platform-agnostic: train on any spatial platform, predict on any DAPI image</a:t>
            </a:r>
          </a:p>
          <a:p>
            <a:pPr>
              <a:lnSpc>
                <a:spcPct val="150000"/>
              </a:lnSpc>
            </a:pPr>
            <a:r>
              <a:rPr sz="1700">
                <a:solidFill>
                  <a:srgbClr val="2B2B2B"/>
                </a:solidFill>
                <a:latin typeface="Calibri"/>
              </a:rPr>
              <a:t>•  Modular pipeline: easy to extend with new tissues, methods, modalities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B8D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/>
            <a:r>
              <a:rPr sz="1600" b="1">
                <a:solidFill>
                  <a:srgbClr val="10355A"/>
                </a:solidFill>
                <a:latin typeface="Calibri"/>
              </a:rPr>
              <a:t>Vision</a:t>
            </a:r>
          </a:p>
          <a:p>
            <a:pPr algn="ctr"/>
            <a:r>
              <a:rPr sz="1500" b="0">
                <a:solidFill>
                  <a:srgbClr val="2B2B2B"/>
                </a:solidFill>
                <a:latin typeface="Calibri"/>
              </a:rPr>
              <a:t>A universal DAPI classifier that maps any nuclear-stained slide to cell types — at the F1 ceiling biology allows.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